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5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0D9488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3657600" cy="3657600"/>
          </a:xfrm>
          <a:prstGeom prst="ellipse">
            <a:avLst/>
          </a:prstGeom>
          <a:solidFill>
            <a:srgbClr val="6D4FE0">
              <a:alpha val="9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PROPOSAL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</a:t>
            </a:r>
            <a:pPr indent="0" marL="0">
              <a:buNone/>
            </a:pPr>
            <a:r>
              <a:rPr lang="en-US" sz="6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Performance Engineering Assistant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886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AI-driven load testing, adaptive scenario generation, and automated bottleneck detection into our own engineering workflow.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5806440"/>
            <a:ext cx="29260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943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Engineering Leadership Review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InnovateHERs — Performance Engineering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92640" y="4206240"/>
            <a:ext cx="1737360" cy="1737360"/>
          </a:xfrm>
          <a:prstGeom prst="ellipse">
            <a:avLst/>
          </a:prstGeom>
          <a:solidFill>
            <a:srgbClr val="0D9488">
              <a:alpha val="18000"/>
            </a:srgbClr>
          </a:solidFill>
          <a:ln w="15875">
            <a:solidFill>
              <a:srgbClr val="0D9488"/>
            </a:solidFill>
            <a:prstDash val="solid"/>
          </a:ln>
        </p:spPr>
      </p:sp>
      <p:pic>
        <p:nvPicPr>
          <p:cNvPr id="12" name="Image 0" descr="/home/claude/ppt_work/assets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9606" y="4623206"/>
            <a:ext cx="903427" cy="9034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today is manual, disconnected, and reactive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engineering teams spend significant effort hand-building load test scenarios that still don't reflect real user behavior. Bottlenecks are caught late — often in production — because testing isn't grounded in actual usage patterns and isn't wired into monitoring or CI/CD.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5166360" cy="178308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081528"/>
            <a:ext cx="685800" cy="685800"/>
          </a:xfrm>
          <a:prstGeom prst="ellipse">
            <a:avLst/>
          </a:prstGeom>
          <a:solidFill>
            <a:srgbClr val="0D9488">
              <a:alpha val="18000"/>
            </a:srgbClr>
          </a:solidFill>
          <a:ln w="15875">
            <a:solidFill>
              <a:srgbClr val="0D9488"/>
            </a:solidFill>
            <a:prstDash val="solid"/>
          </a:ln>
        </p:spPr>
      </p:sp>
      <p:pic>
        <p:nvPicPr>
          <p:cNvPr id="8" name="Image 0" descr="/home/claude/ppt_work/asset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3246120"/>
            <a:ext cx="356616" cy="3566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30449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Don't Reflect Reality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600200" y="347472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are hand-written from guesswork, not from how users actually move through the app.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89320" y="2788920"/>
            <a:ext cx="5166360" cy="178308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3081528"/>
            <a:ext cx="685800" cy="685800"/>
          </a:xfrm>
          <a:prstGeom prst="ellipse">
            <a:avLst/>
          </a:prstGeom>
          <a:solidFill>
            <a:srgbClr val="D97706">
              <a:alpha val="18000"/>
            </a:srgbClr>
          </a:solidFill>
          <a:ln w="15875">
            <a:solidFill>
              <a:srgbClr val="D97706"/>
            </a:solidFill>
            <a:prstDash val="solid"/>
          </a:ln>
        </p:spPr>
      </p:sp>
      <p:pic>
        <p:nvPicPr>
          <p:cNvPr id="13" name="Image 1" descr="/home/claude/ppt_work/asset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3246120"/>
            <a:ext cx="356616" cy="3566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30449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Bottlenecks Found Too Late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132320" y="347472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surface after release, driving costly production incidents and firefighting.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4846320"/>
            <a:ext cx="5166360" cy="178308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31520" y="5138928"/>
            <a:ext cx="685800" cy="685800"/>
          </a:xfrm>
          <a:prstGeom prst="ellipse">
            <a:avLst/>
          </a:prstGeom>
          <a:solidFill>
            <a:srgbClr val="6D4FE0">
              <a:alpha val="18000"/>
            </a:srgbClr>
          </a:solidFill>
          <a:ln w="15875">
            <a:solidFill>
              <a:srgbClr val="6D4FE0"/>
            </a:solidFill>
            <a:prstDash val="solid"/>
          </a:ln>
        </p:spPr>
      </p:sp>
      <p:pic>
        <p:nvPicPr>
          <p:cNvPr id="18" name="Image 2" descr="/home/claude/ppt_work/asset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303520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51023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From CI/CD &amp; Monitoring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600200" y="553212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live separately from telemetry, so findings rarely close the loop.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989320" y="4846320"/>
            <a:ext cx="5166360" cy="178308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63640" y="5138928"/>
            <a:ext cx="685800" cy="685800"/>
          </a:xfrm>
          <a:prstGeom prst="ellipse">
            <a:avLst/>
          </a:prstGeom>
          <a:solidFill>
            <a:srgbClr val="16A34A">
              <a:alpha val="18000"/>
            </a:srgbClr>
          </a:solidFill>
          <a:ln w="15875">
            <a:solidFill>
              <a:srgbClr val="16A34A"/>
            </a:solidFill>
            <a:prstDash val="solid"/>
          </a:ln>
        </p:spPr>
      </p:sp>
      <p:pic>
        <p:nvPicPr>
          <p:cNvPr id="23" name="Image 3" descr="/home/claude/ppt_work/assets/list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5303520"/>
            <a:ext cx="356616" cy="35661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32320" y="51023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Manual, Error-Prone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7132320" y="553212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cycle burns engineer-hours on configuration instead of analysis.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PulseAI — AI Performance Engineering Assistant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9902952" y="6519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PulseAI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application logs to AI-generated bottleneck insights — fully automated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1500" y="2514600"/>
            <a:ext cx="1627632" cy="2331720"/>
          </a:xfrm>
          <a:prstGeom prst="roundRect">
            <a:avLst>
              <a:gd name="adj" fmla="val 5056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001268" y="2807208"/>
            <a:ext cx="768096" cy="768096"/>
          </a:xfrm>
          <a:prstGeom prst="ellipse">
            <a:avLst/>
          </a:prstGeom>
          <a:solidFill>
            <a:srgbClr val="64748B">
              <a:alpha val="18000"/>
            </a:srgbClr>
          </a:solidFill>
          <a:ln w="15875">
            <a:solidFill>
              <a:srgbClr val="64748B"/>
            </a:solidFill>
            <a:prstDash val="solid"/>
          </a:ln>
        </p:spPr>
      </p:sp>
      <p:pic>
        <p:nvPicPr>
          <p:cNvPr id="7" name="Image 0" descr="/home/claude/ppt_work/assets/cs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611" y="2991551"/>
            <a:ext cx="399410" cy="3994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4652" y="3685032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62940" y="4142232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.csv usage logs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199132" y="336042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455164" y="2514600"/>
            <a:ext cx="1627632" cy="2331720"/>
          </a:xfrm>
          <a:prstGeom prst="roundRect">
            <a:avLst>
              <a:gd name="adj" fmla="val 5056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076956" y="2322576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3076956" y="2322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2884932" y="2807208"/>
            <a:ext cx="768096" cy="768096"/>
          </a:xfrm>
          <a:prstGeom prst="ellipse">
            <a:avLst/>
          </a:prstGeom>
          <a:solidFill>
            <a:srgbClr val="0D9488">
              <a:alpha val="18000"/>
            </a:srgbClr>
          </a:solidFill>
          <a:ln w="15875">
            <a:solidFill>
              <a:srgbClr val="0D9488"/>
            </a:solidFill>
            <a:prstDash val="solid"/>
          </a:ln>
        </p:spPr>
      </p:sp>
      <p:pic>
        <p:nvPicPr>
          <p:cNvPr id="15" name="Image 1" descr="/home/claude/ppt_work/assets/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275" y="2991551"/>
            <a:ext cx="399410" cy="39941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28316" y="3685032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Extraction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2546604" y="4142232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reconstructs top user journeys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082796" y="336042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4338828" y="2514600"/>
            <a:ext cx="1627632" cy="2331720"/>
          </a:xfrm>
          <a:prstGeom prst="roundRect">
            <a:avLst>
              <a:gd name="adj" fmla="val 5056"/>
            </a:avLst>
          </a:prstGeom>
          <a:solidFill>
            <a:srgbClr val="F8FAFC"/>
          </a:solidFill>
          <a:ln w="19050">
            <a:solidFill>
              <a:srgbClr val="6D4FE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960620" y="2322576"/>
            <a:ext cx="384048" cy="384048"/>
          </a:xfrm>
          <a:prstGeom prst="ellipse">
            <a:avLst/>
          </a:prstGeom>
          <a:solidFill>
            <a:srgbClr val="6D4FE0"/>
          </a:solidFill>
          <a:ln/>
        </p:spPr>
      </p:sp>
      <p:sp>
        <p:nvSpPr>
          <p:cNvPr id="21" name="Text 17"/>
          <p:cNvSpPr/>
          <p:nvPr/>
        </p:nvSpPr>
        <p:spPr>
          <a:xfrm>
            <a:off x="4960620" y="2322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4768596" y="2807208"/>
            <a:ext cx="768096" cy="768096"/>
          </a:xfrm>
          <a:prstGeom prst="ellipse">
            <a:avLst/>
          </a:prstGeom>
          <a:solidFill>
            <a:srgbClr val="6D4FE0">
              <a:alpha val="18000"/>
            </a:srgbClr>
          </a:solidFill>
          <a:ln w="15875">
            <a:solidFill>
              <a:srgbClr val="6D4FE0"/>
            </a:solidFill>
            <a:prstDash val="solid"/>
          </a:ln>
        </p:spPr>
      </p:sp>
      <p:pic>
        <p:nvPicPr>
          <p:cNvPr id="23" name="Image 2" descr="/home/claude/ppt_work/assets/mag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939" y="2991551"/>
            <a:ext cx="399410" cy="39941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411980" y="3685032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Generation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430268" y="4142232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the k6 test script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5966460" y="336042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6222492" y="2514600"/>
            <a:ext cx="1627632" cy="2331720"/>
          </a:xfrm>
          <a:prstGeom prst="roundRect">
            <a:avLst>
              <a:gd name="adj" fmla="val 5056"/>
            </a:avLst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844284" y="2322576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6844284" y="2322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6652260" y="2807208"/>
            <a:ext cx="768096" cy="768096"/>
          </a:xfrm>
          <a:prstGeom prst="ellipse">
            <a:avLst/>
          </a:prstGeom>
          <a:solidFill>
            <a:srgbClr val="D97706">
              <a:alpha val="18000"/>
            </a:srgbClr>
          </a:solidFill>
          <a:ln w="15875">
            <a:solidFill>
              <a:srgbClr val="D97706"/>
            </a:solidFill>
            <a:prstDash val="solid"/>
          </a:ln>
        </p:spPr>
      </p:sp>
      <p:pic>
        <p:nvPicPr>
          <p:cNvPr id="31" name="Image 3" descr="/home/claude/ppt_work/assets/pl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603" y="2991551"/>
            <a:ext cx="399410" cy="39941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295644" y="3685032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6313932" y="4142232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/ JMeter runs against target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7850124" y="336042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8106156" y="2514600"/>
            <a:ext cx="1627632" cy="2331720"/>
          </a:xfrm>
          <a:prstGeom prst="roundRect">
            <a:avLst>
              <a:gd name="adj" fmla="val 5056"/>
            </a:avLst>
          </a:prstGeom>
          <a:solidFill>
            <a:srgbClr val="F8FAFC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8727948" y="2322576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7" name="Text 31"/>
          <p:cNvSpPr/>
          <p:nvPr/>
        </p:nvSpPr>
        <p:spPr>
          <a:xfrm>
            <a:off x="8727948" y="2322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8" name="Shape 32"/>
          <p:cNvSpPr/>
          <p:nvPr/>
        </p:nvSpPr>
        <p:spPr>
          <a:xfrm>
            <a:off x="8535924" y="2807208"/>
            <a:ext cx="768096" cy="768096"/>
          </a:xfrm>
          <a:prstGeom prst="ellipse">
            <a:avLst/>
          </a:prstGeom>
          <a:solidFill>
            <a:srgbClr val="16A34A">
              <a:alpha val="18000"/>
            </a:srgbClr>
          </a:solidFill>
          <a:ln w="15875">
            <a:solidFill>
              <a:srgbClr val="16A34A"/>
            </a:solidFill>
            <a:prstDash val="solid"/>
          </a:ln>
        </p:spPr>
      </p:sp>
      <p:pic>
        <p:nvPicPr>
          <p:cNvPr id="39" name="Image 4" descr="/home/claude/ppt_work/assets/br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0267" y="2991551"/>
            <a:ext cx="399410" cy="39941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8179308" y="3685032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8197596" y="4142232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+ telemetry correlated</a:t>
            </a:r>
            <a:endParaRPr lang="en-US" sz="850" dirty="0"/>
          </a:p>
        </p:txBody>
      </p:sp>
      <p:sp>
        <p:nvSpPr>
          <p:cNvPr id="42" name="Text 35"/>
          <p:cNvSpPr/>
          <p:nvPr/>
        </p:nvSpPr>
        <p:spPr>
          <a:xfrm>
            <a:off x="9733788" y="336042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3" name="Shape 36"/>
          <p:cNvSpPr/>
          <p:nvPr/>
        </p:nvSpPr>
        <p:spPr>
          <a:xfrm>
            <a:off x="9989820" y="2514600"/>
            <a:ext cx="1627632" cy="2331720"/>
          </a:xfrm>
          <a:prstGeom prst="roundRect">
            <a:avLst>
              <a:gd name="adj" fmla="val 5056"/>
            </a:avLst>
          </a:prstGeom>
          <a:solidFill>
            <a:srgbClr val="F8FAFC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10611612" y="2322576"/>
            <a:ext cx="384048" cy="384048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45" name="Text 38"/>
          <p:cNvSpPr/>
          <p:nvPr/>
        </p:nvSpPr>
        <p:spPr>
          <a:xfrm>
            <a:off x="10611612" y="2322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6" name="Shape 39"/>
          <p:cNvSpPr/>
          <p:nvPr/>
        </p:nvSpPr>
        <p:spPr>
          <a:xfrm>
            <a:off x="10419588" y="2807208"/>
            <a:ext cx="768096" cy="768096"/>
          </a:xfrm>
          <a:prstGeom prst="ellipse">
            <a:avLst/>
          </a:prstGeom>
          <a:solidFill>
            <a:srgbClr val="CA8A04">
              <a:alpha val="18000"/>
            </a:srgbClr>
          </a:solidFill>
          <a:ln w="15875">
            <a:solidFill>
              <a:srgbClr val="CA8A04"/>
            </a:solidFill>
            <a:prstDash val="solid"/>
          </a:ln>
        </p:spPr>
      </p:sp>
      <p:pic>
        <p:nvPicPr>
          <p:cNvPr id="47" name="Image 5" descr="/home/claude/ppt_work/assets/dashbo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3931" y="2991551"/>
            <a:ext cx="399410" cy="39941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10062972" y="3685032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Fixes</a:t>
            </a:r>
            <a:endParaRPr lang="en-US" sz="1150" dirty="0"/>
          </a:p>
        </p:txBody>
      </p:sp>
      <p:sp>
        <p:nvSpPr>
          <p:cNvPr id="49" name="Text 41"/>
          <p:cNvSpPr/>
          <p:nvPr/>
        </p:nvSpPr>
        <p:spPr>
          <a:xfrm>
            <a:off x="10081260" y="4142232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Bottlenecks + recommendations</a:t>
            </a:r>
            <a:endParaRPr lang="en-US" sz="850" dirty="0"/>
          </a:p>
        </p:txBody>
      </p:sp>
      <p:sp>
        <p:nvSpPr>
          <p:cNvPr id="50" name="Shape 42"/>
          <p:cNvSpPr/>
          <p:nvPr/>
        </p:nvSpPr>
        <p:spPr>
          <a:xfrm>
            <a:off x="457200" y="534924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1" name="Image 6" descr="/home/claude/ppt_work/assets/brai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5550408"/>
            <a:ext cx="384048" cy="384048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1115568" y="5349240"/>
            <a:ext cx="147767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AI-Powered, Smarter Testing</a:t>
            </a:r>
            <a:endParaRPr lang="en-US" sz="950" dirty="0"/>
          </a:p>
        </p:txBody>
      </p:sp>
      <p:pic>
        <p:nvPicPr>
          <p:cNvPr id="53" name="Image 7" descr="/home/claude/ppt_work/assets/gau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3278" y="5550408"/>
            <a:ext cx="384048" cy="384048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3370478" y="5349240"/>
            <a:ext cx="147767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Logs to Insights</a:t>
            </a:r>
            <a:endParaRPr lang="en-US" sz="950" dirty="0"/>
          </a:p>
        </p:txBody>
      </p:sp>
      <p:pic>
        <p:nvPicPr>
          <p:cNvPr id="55" name="Image 8" descr="/home/claude/ppt_work/assets/warnin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8189" y="5550408"/>
            <a:ext cx="384048" cy="384048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5625389" y="5349240"/>
            <a:ext cx="147767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Bottlenecks Faster</a:t>
            </a:r>
            <a:endParaRPr lang="en-US" sz="950" dirty="0"/>
          </a:p>
        </p:txBody>
      </p:sp>
      <p:pic>
        <p:nvPicPr>
          <p:cNvPr id="57" name="Image 9" descr="/home/claude/ppt_work/assets/chartlin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3099" y="5550408"/>
            <a:ext cx="384048" cy="384048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7880299" y="5349240"/>
            <a:ext cx="147767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Actionable, Not Just Data</a:t>
            </a:r>
            <a:endParaRPr lang="en-US" sz="950" dirty="0"/>
          </a:p>
        </p:txBody>
      </p:sp>
      <p:pic>
        <p:nvPicPr>
          <p:cNvPr id="59" name="Image 10" descr="/home/claude/ppt_work/assets/securit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78010" y="5550408"/>
            <a:ext cx="384048" cy="384048"/>
          </a:xfrm>
          <a:prstGeom prst="rect">
            <a:avLst/>
          </a:prstGeom>
        </p:spPr>
      </p:pic>
      <p:sp>
        <p:nvSpPr>
          <p:cNvPr id="60" name="Text 47"/>
          <p:cNvSpPr/>
          <p:nvPr/>
        </p:nvSpPr>
        <p:spPr>
          <a:xfrm>
            <a:off x="10135210" y="5349240"/>
            <a:ext cx="147767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&amp; Reliable</a:t>
            </a:r>
            <a:endParaRPr lang="en-US" sz="950" dirty="0"/>
          </a:p>
        </p:txBody>
      </p:sp>
      <p:sp>
        <p:nvSpPr>
          <p:cNvPr id="61" name="Text 4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PulseAI — AI Performance Engineering Assistant</a:t>
            </a:r>
            <a:endParaRPr lang="en-US" sz="900" dirty="0"/>
          </a:p>
        </p:txBody>
      </p:sp>
      <p:sp>
        <p:nvSpPr>
          <p:cNvPr id="62" name="Text 49"/>
          <p:cNvSpPr/>
          <p:nvPr/>
        </p:nvSpPr>
        <p:spPr>
          <a:xfrm>
            <a:off x="9902952" y="6519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Tools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proven open-source tooling — no exotic dependencies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02736" cy="2240280"/>
          </a:xfrm>
          <a:prstGeom prst="roundRect">
            <a:avLst>
              <a:gd name="adj" fmla="val 40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02536"/>
            <a:ext cx="310896" cy="310896"/>
          </a:xfrm>
          <a:prstGeom prst="ellipse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29384"/>
            <a:ext cx="2734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560320"/>
            <a:ext cx="566928" cy="566928"/>
          </a:xfrm>
          <a:prstGeom prst="ellipse">
            <a:avLst/>
          </a:prstGeom>
          <a:solidFill>
            <a:srgbClr val="0D9488">
              <a:alpha val="18000"/>
            </a:srgbClr>
          </a:solidFill>
          <a:ln w="15875">
            <a:solidFill>
              <a:srgbClr val="0D9488"/>
            </a:solidFill>
            <a:prstDash val="solid"/>
          </a:ln>
        </p:spPr>
      </p:sp>
      <p:pic>
        <p:nvPicPr>
          <p:cNvPr id="9" name="Image 0" descr="/home/claude/ppt_work/assets/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63" y="2696383"/>
            <a:ext cx="294803" cy="2948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3200400"/>
            <a:ext cx="1231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734312" y="2560320"/>
            <a:ext cx="566928" cy="566928"/>
          </a:xfrm>
          <a:prstGeom prst="ellipse">
            <a:avLst/>
          </a:prstGeom>
          <a:solidFill>
            <a:srgbClr val="0D9488">
              <a:alpha val="18000"/>
            </a:srgbClr>
          </a:solidFill>
          <a:ln w="15875">
            <a:solidFill>
              <a:srgbClr val="0D9488"/>
            </a:solidFill>
            <a:prstDash val="solid"/>
          </a:ln>
        </p:spPr>
      </p:sp>
      <p:pic>
        <p:nvPicPr>
          <p:cNvPr id="12" name="Image 1" descr="/home/claude/ppt_work/assets/pand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375" y="269638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5712" y="3200400"/>
            <a:ext cx="1231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782824" y="2560320"/>
            <a:ext cx="566928" cy="566928"/>
          </a:xfrm>
          <a:prstGeom prst="ellipse">
            <a:avLst/>
          </a:prstGeom>
          <a:solidFill>
            <a:srgbClr val="0D9488">
              <a:alpha val="18000"/>
            </a:srgbClr>
          </a:solidFill>
          <a:ln w="15875">
            <a:solidFill>
              <a:srgbClr val="0D9488"/>
            </a:solidFill>
            <a:prstDash val="solid"/>
          </a:ln>
        </p:spPr>
      </p:sp>
      <p:pic>
        <p:nvPicPr>
          <p:cNvPr id="15" name="Image 2" descr="/home/claude/ppt_work/assets/num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887" y="2696383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554224" y="3200400"/>
            <a:ext cx="1231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288536" y="1783080"/>
            <a:ext cx="3602736" cy="2240280"/>
          </a:xfrm>
          <a:prstGeom prst="roundRect">
            <a:avLst>
              <a:gd name="adj" fmla="val 40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517136" y="2002536"/>
            <a:ext cx="310896" cy="310896"/>
          </a:xfrm>
          <a:prstGeom prst="ellipse">
            <a:avLst/>
          </a:prstGeom>
          <a:solidFill>
            <a:srgbClr val="6D4FE0">
              <a:alpha val="22000"/>
            </a:srgbClr>
          </a:solidFill>
          <a:ln w="12700">
            <a:solidFill>
              <a:srgbClr val="6D4FE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946904" y="1929384"/>
            <a:ext cx="2734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 Layer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517136" y="2560320"/>
            <a:ext cx="566928" cy="566928"/>
          </a:xfrm>
          <a:prstGeom prst="ellipse">
            <a:avLst/>
          </a:prstGeom>
          <a:solidFill>
            <a:srgbClr val="6D4FE0">
              <a:alpha val="18000"/>
            </a:srgbClr>
          </a:solidFill>
          <a:ln w="15875">
            <a:solidFill>
              <a:srgbClr val="6D4FE0"/>
            </a:solidFill>
            <a:prstDash val="solid"/>
          </a:ln>
        </p:spPr>
      </p:sp>
      <p:pic>
        <p:nvPicPr>
          <p:cNvPr id="21" name="Image 3" descr="/home/claude/ppt_work/assets/opena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199" y="2696383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288536" y="320040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LLM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6089904" y="2560320"/>
            <a:ext cx="566928" cy="566928"/>
          </a:xfrm>
          <a:prstGeom prst="ellipse">
            <a:avLst/>
          </a:prstGeom>
          <a:solidFill>
            <a:srgbClr val="6D4FE0">
              <a:alpha val="18000"/>
            </a:srgbClr>
          </a:solidFill>
          <a:ln w="15875">
            <a:solidFill>
              <a:srgbClr val="6D4FE0"/>
            </a:solidFill>
            <a:prstDash val="solid"/>
          </a:ln>
        </p:spPr>
      </p:sp>
      <p:pic>
        <p:nvPicPr>
          <p:cNvPr id="24" name="Image 4" descr="/home/claude/ppt_work/assets/langch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5967" y="2696383"/>
            <a:ext cx="294803" cy="29480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861304" y="320040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8119872" y="1783080"/>
            <a:ext cx="3602736" cy="2240280"/>
          </a:xfrm>
          <a:prstGeom prst="roundRect">
            <a:avLst>
              <a:gd name="adj" fmla="val 40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8348472" y="2002536"/>
            <a:ext cx="310896" cy="310896"/>
          </a:xfrm>
          <a:prstGeom prst="ellipse">
            <a:avLst/>
          </a:prstGeom>
          <a:solidFill>
            <a:srgbClr val="D97706">
              <a:alpha val="2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8778240" y="1929384"/>
            <a:ext cx="2734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Engines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8348472" y="2560320"/>
            <a:ext cx="566928" cy="566928"/>
          </a:xfrm>
          <a:prstGeom prst="ellipse">
            <a:avLst/>
          </a:prstGeom>
          <a:solidFill>
            <a:srgbClr val="D97706">
              <a:alpha val="18000"/>
            </a:srgbClr>
          </a:solidFill>
          <a:ln w="15875">
            <a:solidFill>
              <a:srgbClr val="D97706"/>
            </a:solidFill>
            <a:prstDash val="solid"/>
          </a:ln>
        </p:spPr>
      </p:sp>
      <p:pic>
        <p:nvPicPr>
          <p:cNvPr id="30" name="Image 5" descr="/home/claude/ppt_work/assets/k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4535" y="2696383"/>
            <a:ext cx="294803" cy="29480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119872" y="320040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9921240" y="2560320"/>
            <a:ext cx="566928" cy="566928"/>
          </a:xfrm>
          <a:prstGeom prst="ellipse">
            <a:avLst/>
          </a:prstGeom>
          <a:solidFill>
            <a:srgbClr val="D97706">
              <a:alpha val="18000"/>
            </a:srgbClr>
          </a:solidFill>
          <a:ln w="15875">
            <a:solidFill>
              <a:srgbClr val="D97706"/>
            </a:solidFill>
            <a:prstDash val="solid"/>
          </a:ln>
        </p:spPr>
      </p:sp>
      <p:pic>
        <p:nvPicPr>
          <p:cNvPr id="33" name="Image 6" descr="/home/claude/ppt_work/assets/jmet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7303" y="2696383"/>
            <a:ext cx="294803" cy="294803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692640" y="320040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JMeter</a:t>
            </a:r>
            <a:endParaRPr lang="en-US" sz="950" dirty="0"/>
          </a:p>
        </p:txBody>
      </p:sp>
      <p:sp>
        <p:nvSpPr>
          <p:cNvPr id="35" name="Shape 26"/>
          <p:cNvSpPr/>
          <p:nvPr/>
        </p:nvSpPr>
        <p:spPr>
          <a:xfrm>
            <a:off x="457200" y="4251960"/>
            <a:ext cx="3602736" cy="2240280"/>
          </a:xfrm>
          <a:prstGeom prst="roundRect">
            <a:avLst>
              <a:gd name="adj" fmla="val 40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685800" y="4471416"/>
            <a:ext cx="310896" cy="310896"/>
          </a:xfrm>
          <a:prstGeom prst="ellipse">
            <a:avLst/>
          </a:prstGeom>
          <a:solidFill>
            <a:srgbClr val="0284C7">
              <a:alpha val="22000"/>
            </a:srgbClr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1115568" y="4398264"/>
            <a:ext cx="2734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Visualization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685800" y="5029200"/>
            <a:ext cx="566928" cy="566928"/>
          </a:xfrm>
          <a:prstGeom prst="ellipse">
            <a:avLst/>
          </a:prstGeom>
          <a:solidFill>
            <a:srgbClr val="0284C7">
              <a:alpha val="18000"/>
            </a:srgbClr>
          </a:solidFill>
          <a:ln w="15875">
            <a:solidFill>
              <a:srgbClr val="0284C7"/>
            </a:solidFill>
            <a:prstDash val="solid"/>
          </a:ln>
        </p:spPr>
      </p:sp>
      <p:pic>
        <p:nvPicPr>
          <p:cNvPr id="39" name="Image 7" descr="/home/claude/ppt_work/assets/streamli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863" y="5165263"/>
            <a:ext cx="294803" cy="294803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457200" y="566928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</p:txBody>
      </p:sp>
      <p:sp>
        <p:nvSpPr>
          <p:cNvPr id="41" name="Shape 31"/>
          <p:cNvSpPr/>
          <p:nvPr/>
        </p:nvSpPr>
        <p:spPr>
          <a:xfrm>
            <a:off x="2258568" y="5029200"/>
            <a:ext cx="566928" cy="566928"/>
          </a:xfrm>
          <a:prstGeom prst="ellipse">
            <a:avLst/>
          </a:prstGeom>
          <a:solidFill>
            <a:srgbClr val="0284C7">
              <a:alpha val="18000"/>
            </a:srgbClr>
          </a:solidFill>
          <a:ln w="15875">
            <a:solidFill>
              <a:srgbClr val="0284C7"/>
            </a:solidFill>
            <a:prstDash val="solid"/>
          </a:ln>
        </p:spPr>
      </p:sp>
      <p:pic>
        <p:nvPicPr>
          <p:cNvPr id="42" name="Image 8" descr="/home/claude/ppt_work/assets/plotl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94631" y="5165263"/>
            <a:ext cx="294803" cy="294803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2029968" y="566928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950" dirty="0"/>
          </a:p>
        </p:txBody>
      </p:sp>
      <p:sp>
        <p:nvSpPr>
          <p:cNvPr id="44" name="Shape 33"/>
          <p:cNvSpPr/>
          <p:nvPr/>
        </p:nvSpPr>
        <p:spPr>
          <a:xfrm>
            <a:off x="4288536" y="4251960"/>
            <a:ext cx="3602736" cy="2240280"/>
          </a:xfrm>
          <a:prstGeom prst="roundRect">
            <a:avLst>
              <a:gd name="adj" fmla="val 40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4517136" y="4471416"/>
            <a:ext cx="310896" cy="310896"/>
          </a:xfrm>
          <a:prstGeom prst="ellipse">
            <a:avLst/>
          </a:prstGeom>
          <a:solidFill>
            <a:srgbClr val="16A34A">
              <a:alpha val="2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35"/>
          <p:cNvSpPr/>
          <p:nvPr/>
        </p:nvSpPr>
        <p:spPr>
          <a:xfrm>
            <a:off x="4946904" y="4398264"/>
            <a:ext cx="2734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Telemetry</a:t>
            </a:r>
            <a:endParaRPr lang="en-US" sz="1400" dirty="0"/>
          </a:p>
        </p:txBody>
      </p:sp>
      <p:sp>
        <p:nvSpPr>
          <p:cNvPr id="47" name="Shape 36"/>
          <p:cNvSpPr/>
          <p:nvPr/>
        </p:nvSpPr>
        <p:spPr>
          <a:xfrm>
            <a:off x="4517136" y="5029200"/>
            <a:ext cx="566928" cy="566928"/>
          </a:xfrm>
          <a:prstGeom prst="ellipse">
            <a:avLst/>
          </a:prstGeom>
          <a:solidFill>
            <a:srgbClr val="16A34A">
              <a:alpha val="18000"/>
            </a:srgbClr>
          </a:solidFill>
          <a:ln w="15875">
            <a:solidFill>
              <a:srgbClr val="16A34A"/>
            </a:solidFill>
            <a:prstDash val="solid"/>
          </a:ln>
        </p:spPr>
      </p:sp>
      <p:pic>
        <p:nvPicPr>
          <p:cNvPr id="48" name="Image 9" descr="/home/claude/ppt_work/assets/telemet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3199" y="5165263"/>
            <a:ext cx="294803" cy="294803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4288536" y="566928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psutil sampling</a:t>
            </a:r>
            <a:endParaRPr lang="en-US" sz="950" dirty="0"/>
          </a:p>
        </p:txBody>
      </p:sp>
      <p:sp>
        <p:nvSpPr>
          <p:cNvPr id="50" name="Shape 38"/>
          <p:cNvSpPr/>
          <p:nvPr/>
        </p:nvSpPr>
        <p:spPr>
          <a:xfrm>
            <a:off x="6089904" y="5029200"/>
            <a:ext cx="566928" cy="566928"/>
          </a:xfrm>
          <a:prstGeom prst="ellipse">
            <a:avLst/>
          </a:prstGeom>
          <a:solidFill>
            <a:srgbClr val="16A34A">
              <a:alpha val="18000"/>
            </a:srgbClr>
          </a:solidFill>
          <a:ln w="15875">
            <a:solidFill>
              <a:srgbClr val="16A34A"/>
            </a:solidFill>
            <a:prstDash val="solid"/>
          </a:ln>
        </p:spPr>
      </p:sp>
      <p:pic>
        <p:nvPicPr>
          <p:cNvPr id="51" name="Image 10" descr="/home/claude/ppt_work/assets/serve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5967" y="5165263"/>
            <a:ext cx="294803" cy="294803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5861304" y="566928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APM-ready (Prometheus/Grafana)</a:t>
            </a:r>
            <a:endParaRPr lang="en-US" sz="950" dirty="0"/>
          </a:p>
        </p:txBody>
      </p:sp>
      <p:sp>
        <p:nvSpPr>
          <p:cNvPr id="53" name="Shape 40"/>
          <p:cNvSpPr/>
          <p:nvPr/>
        </p:nvSpPr>
        <p:spPr>
          <a:xfrm>
            <a:off x="8119872" y="4251960"/>
            <a:ext cx="3602736" cy="2240280"/>
          </a:xfrm>
          <a:prstGeom prst="roundRect">
            <a:avLst>
              <a:gd name="adj" fmla="val 40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41"/>
          <p:cNvSpPr/>
          <p:nvPr/>
        </p:nvSpPr>
        <p:spPr>
          <a:xfrm>
            <a:off x="8348472" y="4471416"/>
            <a:ext cx="310896" cy="310896"/>
          </a:xfrm>
          <a:prstGeom prst="ellipse">
            <a:avLst/>
          </a:prstGeom>
          <a:solidFill>
            <a:srgbClr val="CA8A04">
              <a:alpha val="22000"/>
            </a:srgbClr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778240" y="4398264"/>
            <a:ext cx="2734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CI/CD (Roadmap)</a:t>
            </a:r>
            <a:endParaRPr lang="en-US" sz="1400" dirty="0"/>
          </a:p>
        </p:txBody>
      </p:sp>
      <p:sp>
        <p:nvSpPr>
          <p:cNvPr id="56" name="Shape 43"/>
          <p:cNvSpPr/>
          <p:nvPr/>
        </p:nvSpPr>
        <p:spPr>
          <a:xfrm>
            <a:off x="8348472" y="5029200"/>
            <a:ext cx="566928" cy="566928"/>
          </a:xfrm>
          <a:prstGeom prst="ellipse">
            <a:avLst/>
          </a:prstGeom>
          <a:solidFill>
            <a:srgbClr val="CA8A04">
              <a:alpha val="18000"/>
            </a:srgbClr>
          </a:solidFill>
          <a:ln w="15875">
            <a:solidFill>
              <a:srgbClr val="CA8A04"/>
            </a:solidFill>
            <a:prstDash val="solid"/>
          </a:ln>
        </p:spPr>
      </p:sp>
      <p:pic>
        <p:nvPicPr>
          <p:cNvPr id="57" name="Image 11" descr="/home/claude/ppt_work/assets/docke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84535" y="5165263"/>
            <a:ext cx="294803" cy="294803"/>
          </a:xfrm>
          <a:prstGeom prst="rect">
            <a:avLst/>
          </a:prstGeom>
        </p:spPr>
      </p:pic>
      <p:sp>
        <p:nvSpPr>
          <p:cNvPr id="58" name="Text 44"/>
          <p:cNvSpPr/>
          <p:nvPr/>
        </p:nvSpPr>
        <p:spPr>
          <a:xfrm>
            <a:off x="8119872" y="566928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50" dirty="0"/>
          </a:p>
        </p:txBody>
      </p:sp>
      <p:sp>
        <p:nvSpPr>
          <p:cNvPr id="59" name="Shape 45"/>
          <p:cNvSpPr/>
          <p:nvPr/>
        </p:nvSpPr>
        <p:spPr>
          <a:xfrm>
            <a:off x="9921240" y="5029200"/>
            <a:ext cx="566928" cy="566928"/>
          </a:xfrm>
          <a:prstGeom prst="ellipse">
            <a:avLst/>
          </a:prstGeom>
          <a:solidFill>
            <a:srgbClr val="CA8A04">
              <a:alpha val="18000"/>
            </a:srgbClr>
          </a:solidFill>
          <a:ln w="15875">
            <a:solidFill>
              <a:srgbClr val="CA8A04"/>
            </a:solidFill>
            <a:prstDash val="solid"/>
          </a:ln>
        </p:spPr>
      </p:sp>
      <p:pic>
        <p:nvPicPr>
          <p:cNvPr id="60" name="Image 12" descr="/home/claude/ppt_work/assets/githubactions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57303" y="5165263"/>
            <a:ext cx="294803" cy="294803"/>
          </a:xfrm>
          <a:prstGeom prst="rect">
            <a:avLst/>
          </a:prstGeom>
        </p:spPr>
      </p:pic>
      <p:sp>
        <p:nvSpPr>
          <p:cNvPr id="61" name="Text 46"/>
          <p:cNvSpPr/>
          <p:nvPr/>
        </p:nvSpPr>
        <p:spPr>
          <a:xfrm>
            <a:off x="9692640" y="566928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sz="950" dirty="0"/>
          </a:p>
        </p:txBody>
      </p:sp>
      <p:sp>
        <p:nvSpPr>
          <p:cNvPr id="62" name="Text 4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PulseAI — AI Performance Engineering Assistant</a:t>
            </a:r>
            <a:endParaRPr lang="en-US" sz="900" dirty="0"/>
          </a:p>
        </p:txBody>
      </p:sp>
      <p:sp>
        <p:nvSpPr>
          <p:cNvPr id="63" name="Text 48"/>
          <p:cNvSpPr/>
          <p:nvPr/>
        </p:nvSpPr>
        <p:spPr>
          <a:xfrm>
            <a:off x="9902952" y="6519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&amp; Output (1 of 2)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stage of the pipeline consumes and produces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0D9488">
              <a:alpha val="8000"/>
            </a:srgbClr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975104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975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94560" y="2194560"/>
            <a:ext cx="640080" cy="640080"/>
          </a:xfrm>
          <a:prstGeom prst="ellipse">
            <a:avLst/>
          </a:prstGeom>
          <a:solidFill>
            <a:srgbClr val="0D9488">
              <a:alpha val="18000"/>
            </a:srgbClr>
          </a:solidFill>
          <a:ln w="15875">
            <a:solidFill>
              <a:srgbClr val="0D9488"/>
            </a:solidFill>
            <a:prstDash val="solid"/>
          </a:ln>
        </p:spPr>
      </p:sp>
      <p:pic>
        <p:nvPicPr>
          <p:cNvPr id="9" name="Image 0" descr="/home/claude/ppt_work/assets/cs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8179" y="2348179"/>
            <a:ext cx="332842" cy="33284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239572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Parsing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264408" y="1828800"/>
            <a:ext cx="370332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47288" y="193852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447288" y="2231136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application logs (.csv) — timestamps, session/user IDs, endpoints, status codes, response times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967728" y="1828800"/>
            <a:ext cx="292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260336" y="1828800"/>
            <a:ext cx="370332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43216" y="193852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43216" y="2231136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validated log dataset + summary statistics (sessions, users, error counts)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456432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6D4FE0">
              <a:alpha val="8000"/>
            </a:srgbClr>
          </a:solidFill>
          <a:ln w="15875">
            <a:solidFill>
              <a:srgbClr val="6D4FE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" y="3602736"/>
            <a:ext cx="384048" cy="384048"/>
          </a:xfrm>
          <a:prstGeom prst="ellipse">
            <a:avLst/>
          </a:prstGeom>
          <a:solidFill>
            <a:srgbClr val="6D4FE0"/>
          </a:solidFill>
          <a:ln/>
        </p:spPr>
      </p:sp>
      <p:sp>
        <p:nvSpPr>
          <p:cNvPr id="20" name="Text 17"/>
          <p:cNvSpPr/>
          <p:nvPr/>
        </p:nvSpPr>
        <p:spPr>
          <a:xfrm>
            <a:off x="621792" y="3602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2194560" y="3822192"/>
            <a:ext cx="640080" cy="640080"/>
          </a:xfrm>
          <a:prstGeom prst="ellipse">
            <a:avLst/>
          </a:prstGeom>
          <a:solidFill>
            <a:srgbClr val="6D4FE0">
              <a:alpha val="18000"/>
            </a:srgbClr>
          </a:solidFill>
          <a:ln w="15875">
            <a:solidFill>
              <a:srgbClr val="6D4FE0"/>
            </a:solidFill>
            <a:prstDash val="solid"/>
          </a:ln>
        </p:spPr>
      </p:sp>
      <p:pic>
        <p:nvPicPr>
          <p:cNvPr id="22" name="Image 1" descr="/home/claude/ppt_work/asset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179" y="3975811"/>
            <a:ext cx="332842" cy="33284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94360" y="40233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Reconstruction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3264408" y="3456432"/>
            <a:ext cx="370332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447288" y="35661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447288" y="385876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log dataset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967728" y="3456432"/>
            <a:ext cx="292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7260336" y="3456432"/>
            <a:ext cx="370332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6D4FE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443216" y="35661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7443216" y="385876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 user sessions — ordered endpoint sequences grouped by session ID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57200" y="5084064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D97706">
              <a:alpha val="8000"/>
            </a:srgbClr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21792" y="5230368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3" name="Text 29"/>
          <p:cNvSpPr/>
          <p:nvPr/>
        </p:nvSpPr>
        <p:spPr>
          <a:xfrm>
            <a:off x="621792" y="5230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Shape 30"/>
          <p:cNvSpPr/>
          <p:nvPr/>
        </p:nvSpPr>
        <p:spPr>
          <a:xfrm>
            <a:off x="2194560" y="5449824"/>
            <a:ext cx="640080" cy="640080"/>
          </a:xfrm>
          <a:prstGeom prst="ellipse">
            <a:avLst/>
          </a:prstGeom>
          <a:solidFill>
            <a:srgbClr val="D97706">
              <a:alpha val="18000"/>
            </a:srgbClr>
          </a:solidFill>
          <a:ln w="15875">
            <a:solidFill>
              <a:srgbClr val="D97706"/>
            </a:solidFill>
            <a:prstDash val="solid"/>
          </a:ln>
        </p:spPr>
      </p:sp>
      <p:pic>
        <p:nvPicPr>
          <p:cNvPr id="35" name="Image 2" descr="/home/claude/ppt_work/assets/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8179" y="5603443"/>
            <a:ext cx="332842" cy="33284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594360" y="5650992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Extraction</a:t>
            </a:r>
            <a:endParaRPr lang="en-US" sz="1250" dirty="0"/>
          </a:p>
        </p:txBody>
      </p:sp>
      <p:sp>
        <p:nvSpPr>
          <p:cNvPr id="37" name="Shape 32"/>
          <p:cNvSpPr/>
          <p:nvPr/>
        </p:nvSpPr>
        <p:spPr>
          <a:xfrm>
            <a:off x="3264408" y="5084064"/>
            <a:ext cx="370332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3447288" y="519379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3447288" y="548640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 sessions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6967728" y="5084064"/>
            <a:ext cx="292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6"/>
          <p:cNvSpPr/>
          <p:nvPr/>
        </p:nvSpPr>
        <p:spPr>
          <a:xfrm>
            <a:off x="7260336" y="5084064"/>
            <a:ext cx="370332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7443216" y="519379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7443216" y="548640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ranked user journeys with traffic share, exported as structured JSON</a:t>
            </a:r>
            <a:endParaRPr lang="en-US" sz="1100" dirty="0"/>
          </a:p>
        </p:txBody>
      </p:sp>
      <p:sp>
        <p:nvSpPr>
          <p:cNvPr id="44" name="Text 3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PulseAI — AI Performance Engineering Assistant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9902952" y="6519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&amp; Output (2 of 2)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stage of the pipeline consumes and produces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16A34A">
              <a:alpha val="8000"/>
            </a:srgbClr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975104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975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94560" y="2194560"/>
            <a:ext cx="640080" cy="640080"/>
          </a:xfrm>
          <a:prstGeom prst="ellipse">
            <a:avLst/>
          </a:prstGeom>
          <a:solidFill>
            <a:srgbClr val="16A34A">
              <a:alpha val="18000"/>
            </a:srgbClr>
          </a:solidFill>
          <a:ln w="15875">
            <a:solidFill>
              <a:srgbClr val="16A34A"/>
            </a:solidFill>
            <a:prstDash val="solid"/>
          </a:ln>
        </p:spPr>
      </p:sp>
      <p:pic>
        <p:nvPicPr>
          <p:cNvPr id="9" name="Image 0" descr="/home/claude/ppt_work/assets/mag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8179" y="2348179"/>
            <a:ext cx="332842" cy="33284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239572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Script Generation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264408" y="1828800"/>
            <a:ext cx="370332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47288" y="193852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447288" y="2231136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JSON + load profile (target URL, max VUs, ramp timings, thresholds)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967728" y="1828800"/>
            <a:ext cx="292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260336" y="1828800"/>
            <a:ext cx="370332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43216" y="193852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43216" y="2231136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k6 load-test script (.js), ready to run against the target application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456432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CA8A04">
              <a:alpha val="8000"/>
            </a:srgbClr>
          </a:solidFill>
          <a:ln w="15875">
            <a:solidFill>
              <a:srgbClr val="CA8A0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" y="3602736"/>
            <a:ext cx="384048" cy="384048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20" name="Text 17"/>
          <p:cNvSpPr/>
          <p:nvPr/>
        </p:nvSpPr>
        <p:spPr>
          <a:xfrm>
            <a:off x="621792" y="3602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2194560" y="3822192"/>
            <a:ext cx="640080" cy="640080"/>
          </a:xfrm>
          <a:prstGeom prst="ellipse">
            <a:avLst/>
          </a:prstGeom>
          <a:solidFill>
            <a:srgbClr val="CA8A04">
              <a:alpha val="18000"/>
            </a:srgbClr>
          </a:solidFill>
          <a:ln w="15875">
            <a:solidFill>
              <a:srgbClr val="CA8A04"/>
            </a:solidFill>
            <a:prstDash val="solid"/>
          </a:ln>
        </p:spPr>
      </p:sp>
      <p:pic>
        <p:nvPicPr>
          <p:cNvPr id="22" name="Image 1" descr="/home/claude/ppt_work/assets/p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179" y="3975811"/>
            <a:ext cx="332842" cy="33284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94360" y="40233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3264408" y="3456432"/>
            <a:ext cx="370332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447288" y="35661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447288" y="385876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k6 script + target application endpoint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967728" y="3456432"/>
            <a:ext cx="292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7260336" y="3456432"/>
            <a:ext cx="370332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443216" y="35661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7443216" y="385876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test results (.txt / .json) + live infrastructure telemetry (CPU, memory, network)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57200" y="5084064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0284C7">
              <a:alpha val="8000"/>
            </a:srgbClr>
          </a:solidFill>
          <a:ln w="15875">
            <a:solidFill>
              <a:srgbClr val="0284C7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21792" y="5230368"/>
            <a:ext cx="384048" cy="38404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33" name="Text 29"/>
          <p:cNvSpPr/>
          <p:nvPr/>
        </p:nvSpPr>
        <p:spPr>
          <a:xfrm>
            <a:off x="621792" y="5230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Shape 30"/>
          <p:cNvSpPr/>
          <p:nvPr/>
        </p:nvSpPr>
        <p:spPr>
          <a:xfrm>
            <a:off x="2194560" y="5449824"/>
            <a:ext cx="640080" cy="640080"/>
          </a:xfrm>
          <a:prstGeom prst="ellipse">
            <a:avLst/>
          </a:prstGeom>
          <a:solidFill>
            <a:srgbClr val="0284C7">
              <a:alpha val="18000"/>
            </a:srgbClr>
          </a:solidFill>
          <a:ln w="15875">
            <a:solidFill>
              <a:srgbClr val="0284C7"/>
            </a:solidFill>
            <a:prstDash val="solid"/>
          </a:ln>
        </p:spPr>
      </p:sp>
      <p:pic>
        <p:nvPicPr>
          <p:cNvPr id="35" name="Image 2" descr="/home/claude/ppt_work/assets/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8179" y="5603443"/>
            <a:ext cx="332842" cy="33284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594360" y="5650992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&amp; Dashboard</a:t>
            </a:r>
            <a:endParaRPr lang="en-US" sz="1250" dirty="0"/>
          </a:p>
        </p:txBody>
      </p:sp>
      <p:sp>
        <p:nvSpPr>
          <p:cNvPr id="37" name="Shape 32"/>
          <p:cNvSpPr/>
          <p:nvPr/>
        </p:nvSpPr>
        <p:spPr>
          <a:xfrm>
            <a:off x="3264408" y="5084064"/>
            <a:ext cx="370332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3447288" y="519379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3447288" y="548640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performance metrics + telemetry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6967728" y="5084064"/>
            <a:ext cx="292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6"/>
          <p:cNvSpPr/>
          <p:nvPr/>
        </p:nvSpPr>
        <p:spPr>
          <a:xfrm>
            <a:off x="7260336" y="5084064"/>
            <a:ext cx="370332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7443216" y="519379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7443216" y="548640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— bottleneck diagnosis and prioritized, actionable recommendations</a:t>
            </a:r>
            <a:endParaRPr lang="en-US" sz="1100" dirty="0"/>
          </a:p>
        </p:txBody>
      </p:sp>
      <p:sp>
        <p:nvSpPr>
          <p:cNvPr id="44" name="Text 3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PulseAI — AI Performance Engineering Assistant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9902952" y="6519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486400" cy="5486400"/>
          </a:xfrm>
          <a:prstGeom prst="ellipse">
            <a:avLst/>
          </a:prstGeom>
          <a:solidFill>
            <a:srgbClr val="0D9488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PROPOSING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Bring PulseAI In-House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pilot before broader rollout across teams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94460" y="2313432"/>
            <a:ext cx="731520" cy="731520"/>
          </a:xfrm>
          <a:prstGeom prst="ellipse">
            <a:avLst/>
          </a:prstGeom>
          <a:solidFill>
            <a:srgbClr val="0D9488">
              <a:alpha val="18000"/>
            </a:srgbClr>
          </a:solidFill>
          <a:ln w="15875">
            <a:solidFill>
              <a:srgbClr val="0D9488"/>
            </a:solidFill>
            <a:prstDash val="solid"/>
          </a:ln>
        </p:spPr>
      </p:sp>
      <p:pic>
        <p:nvPicPr>
          <p:cNvPr id="8" name="Image 0" descr="/home/claude/ppt_work/assets/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0025" y="2488997"/>
            <a:ext cx="380390" cy="3803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Pilot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0080" y="3630168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PulseAI against one internal staging application end-to-end.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19272" y="205740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56532" y="2313432"/>
            <a:ext cx="731520" cy="731520"/>
          </a:xfrm>
          <a:prstGeom prst="ellipse">
            <a:avLst/>
          </a:prstGeom>
          <a:solidFill>
            <a:srgbClr val="6D4FE0">
              <a:alpha val="18000"/>
            </a:srgbClr>
          </a:solidFill>
          <a:ln w="15875">
            <a:solidFill>
              <a:srgbClr val="6D4FE0"/>
            </a:solidFill>
            <a:prstDash val="solid"/>
          </a:ln>
        </p:spPr>
      </p:sp>
      <p:pic>
        <p:nvPicPr>
          <p:cNvPr id="13" name="Image 1" descr="/home/claude/ppt_work/asset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097" y="2488997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56432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Access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502152" y="3630168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access to a staging app's logs and a safe environment to load-test.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81344" y="205740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18604" y="2313432"/>
            <a:ext cx="731520" cy="731520"/>
          </a:xfrm>
          <a:prstGeom prst="ellipse">
            <a:avLst/>
          </a:prstGeom>
          <a:solidFill>
            <a:srgbClr val="D97706">
              <a:alpha val="18000"/>
            </a:srgbClr>
          </a:solidFill>
          <a:ln w="15875">
            <a:solidFill>
              <a:srgbClr val="D97706"/>
            </a:solidFill>
            <a:prstDash val="solid"/>
          </a:ln>
        </p:spPr>
      </p:sp>
      <p:pic>
        <p:nvPicPr>
          <p:cNvPr id="18" name="Image 2" descr="/home/claude/ppt_work/assets/stopwat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169" y="2488997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18504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Savings Target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364224" y="3630168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reduction in test-prep time vs. our current manual process.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043416" y="205740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980676" y="2313432"/>
            <a:ext cx="731520" cy="731520"/>
          </a:xfrm>
          <a:prstGeom prst="ellipse">
            <a:avLst/>
          </a:prstGeom>
          <a:solidFill>
            <a:srgbClr val="16A34A">
              <a:alpha val="18000"/>
            </a:srgbClr>
          </a:solidFill>
          <a:ln w="15875">
            <a:solidFill>
              <a:srgbClr val="16A34A"/>
            </a:solidFill>
            <a:prstDash val="solid"/>
          </a:ln>
        </p:spPr>
      </p:sp>
      <p:pic>
        <p:nvPicPr>
          <p:cNvPr id="23" name="Image 3" descr="/home/claude/ppt_work/assets/bulls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6241" y="2488997"/>
            <a:ext cx="380390" cy="38039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80576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Checkpoint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226296" y="3630168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detection accuracy and coverage at the end of the pilot.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57200" y="507492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57200" y="53035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asking for a re-platform — just a scoped, low-risk pilot to prove the model on real traffic.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2026-08-14T08:25:14Z</dcterms:created>
  <dcterms:modified xsi:type="dcterms:W3CDTF">2026-08-14T08:25:14Z</dcterms:modified>
</cp:coreProperties>
</file>